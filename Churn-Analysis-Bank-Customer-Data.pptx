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Gelasio" panose="020B0604020202020204" charset="0"/>
      <p:regular r:id="rId11"/>
    </p:embeddedFont>
    <p:embeddedFont>
      <p:font typeface="Gelasio Semi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723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828" y="1212890"/>
            <a:ext cx="7698343" cy="5163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0"/>
              </a:lnSpc>
              <a:buNone/>
            </a:pPr>
            <a:r>
              <a:rPr lang="en-US" sz="8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Churn Analysis – Bank Customer Data</a:t>
            </a:r>
            <a:endParaRPr lang="en-US" sz="8100" dirty="0"/>
          </a:p>
        </p:txBody>
      </p:sp>
      <p:sp>
        <p:nvSpPr>
          <p:cNvPr id="4" name="Text 1"/>
          <p:cNvSpPr/>
          <p:nvPr/>
        </p:nvSpPr>
        <p:spPr>
          <a:xfrm>
            <a:off x="722828" y="6686193"/>
            <a:ext cx="7698343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Analysing Why Customers Leave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93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Our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824270" y="2851785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3310" y="2851785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42524" y="3109079"/>
            <a:ext cx="39577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Understand Churn Behavior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599497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Deep dive into customer departure patterns to identify underlying reasons.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851785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98067" y="2851785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7282" y="3109079"/>
            <a:ext cx="31817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Identify Churn Drivers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599497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Pinpoint key factors contributing to customer attrition using data-driven insights.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09411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63310" y="4809411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142524" y="5066705"/>
            <a:ext cx="42756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Segment High-Risk Customers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557123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 profiles of customers most likely to churn for proactive retention efforts.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98067" y="4809411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7282" y="5066705"/>
            <a:ext cx="46776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Recommend Retention Strategies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557123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Formulate actionable strategies to enhance customer loyalty and reduce churn.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1462"/>
            <a:ext cx="60817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Key Metrics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4721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10,000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4479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Total Customers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96943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Our comprehensive analysis covers a substantial customer base.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344721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20.37%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4479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Overall Churn Rate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496943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This represents the percentage of customers who have ceased their relationship with us.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344721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100%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9842540" y="4479012"/>
            <a:ext cx="38294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Focus on Churned Segment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496943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Our in-depth analysis is specifically concentrated on customers who have churned.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594479"/>
            <a:ext cx="645902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Churn by Demographics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6642" y="1788914"/>
            <a:ext cx="6294834" cy="43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4444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Gender-Based Churn: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56642" y="2572464"/>
            <a:ext cx="5172432" cy="270153"/>
          </a:xfrm>
          <a:prstGeom prst="roundRect">
            <a:avLst>
              <a:gd name="adj" fmla="val 12005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56642" y="2572464"/>
            <a:ext cx="2892385" cy="270153"/>
          </a:xfrm>
          <a:prstGeom prst="roundRect">
            <a:avLst>
              <a:gd name="adj" fmla="val 12005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091118" y="2572464"/>
            <a:ext cx="960358" cy="27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55.92%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56642" y="3112651"/>
            <a:ext cx="2702600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Female Customers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56642" y="3666530"/>
            <a:ext cx="6294834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Higher churn observed among female clientele.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56642" y="4660821"/>
            <a:ext cx="5121354" cy="270153"/>
          </a:xfrm>
          <a:prstGeom prst="roundRect">
            <a:avLst>
              <a:gd name="adj" fmla="val 12005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56642" y="4660821"/>
            <a:ext cx="2257425" cy="270153"/>
          </a:xfrm>
          <a:prstGeom prst="roundRect">
            <a:avLst>
              <a:gd name="adj" fmla="val 12005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040041" y="4660821"/>
            <a:ext cx="1011436" cy="27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44.08%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56642" y="5201007"/>
            <a:ext cx="2702600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Male Customers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56642" y="5754886"/>
            <a:ext cx="6294834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Comparatively lower churn rate.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86543" y="1788914"/>
            <a:ext cx="6294834" cy="43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5E98F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Age Group Analysis: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586543" y="2788682"/>
            <a:ext cx="6294834" cy="2032635"/>
          </a:xfrm>
          <a:prstGeom prst="roundRect">
            <a:avLst>
              <a:gd name="adj" fmla="val 7198"/>
            </a:avLst>
          </a:prstGeom>
          <a:solidFill>
            <a:srgbClr val="F9F6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586543" y="2758202"/>
            <a:ext cx="6294834" cy="121920"/>
          </a:xfrm>
          <a:prstGeom prst="roundRect">
            <a:avLst>
              <a:gd name="adj" fmla="val 26602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0409694" y="2464475"/>
            <a:ext cx="648533" cy="648533"/>
          </a:xfrm>
          <a:prstGeom prst="roundRect">
            <a:avLst>
              <a:gd name="adj" fmla="val 140995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242" y="2626638"/>
            <a:ext cx="259437" cy="32420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833122" y="3329107"/>
            <a:ext cx="2984659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Highest Churn (51-60)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7833122" y="3882985"/>
            <a:ext cx="5801678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This age bracket shows the most significant attrition, requiring targeted strategies.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7586543" y="5361623"/>
            <a:ext cx="6294834" cy="2032635"/>
          </a:xfrm>
          <a:prstGeom prst="roundRect">
            <a:avLst>
              <a:gd name="adj" fmla="val 7198"/>
            </a:avLst>
          </a:prstGeom>
          <a:solidFill>
            <a:srgbClr val="F9F6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7586543" y="5331143"/>
            <a:ext cx="6294834" cy="121920"/>
          </a:xfrm>
          <a:prstGeom prst="roundRect">
            <a:avLst>
              <a:gd name="adj" fmla="val 26602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10409694" y="5037415"/>
            <a:ext cx="648533" cy="648533"/>
          </a:xfrm>
          <a:prstGeom prst="roundRect">
            <a:avLst>
              <a:gd name="adj" fmla="val 140995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242" y="5199578"/>
            <a:ext cx="259437" cy="324207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833122" y="5902047"/>
            <a:ext cx="356901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Lowest Churn (&lt;30)</a:t>
            </a:r>
            <a:endParaRPr lang="en-US" sz="2100" dirty="0"/>
          </a:p>
        </p:txBody>
      </p:sp>
      <p:sp>
        <p:nvSpPr>
          <p:cNvPr id="26" name="Text 22"/>
          <p:cNvSpPr/>
          <p:nvPr/>
        </p:nvSpPr>
        <p:spPr>
          <a:xfrm>
            <a:off x="7833122" y="6455926"/>
            <a:ext cx="5801678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Younger demographics exhibit robust loyalty and lower churn.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4629"/>
            <a:ext cx="118868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Churn by Customer Behavior &amp; Geography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203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Behavioral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729865"/>
            <a:ext cx="907256" cy="2114907"/>
          </a:xfrm>
          <a:prstGeom prst="roundRect">
            <a:avLst>
              <a:gd name="adj" fmla="val 360022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278" y="3574613"/>
            <a:ext cx="340162" cy="4252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7860" y="2956679"/>
            <a:ext cx="51106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Inactive Customers: 63.92% of churn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927860" y="3892153"/>
            <a:ext cx="51106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Lack of engagement significantly contributes to attrition.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5014793"/>
            <a:ext cx="907256" cy="2114907"/>
          </a:xfrm>
          <a:prstGeom prst="roundRect">
            <a:avLst>
              <a:gd name="adj" fmla="val 360022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278" y="5859542"/>
            <a:ext cx="340162" cy="4252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27860" y="5241607"/>
            <a:ext cx="51106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Non-Credit Card Owners: 30.91% churn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1927860" y="6177082"/>
            <a:ext cx="51106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Customers without credit cards show a higher propensity to churn.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7599521" y="2120384"/>
            <a:ext cx="33929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Geographical Variations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7599521" y="2729865"/>
            <a:ext cx="6244709" cy="1760577"/>
          </a:xfrm>
          <a:prstGeom prst="roundRect">
            <a:avLst>
              <a:gd name="adj" fmla="val 1933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7826335" y="2956679"/>
            <a:ext cx="29069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Germany and France: 39.96% churn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826335" y="3537823"/>
            <a:ext cx="579108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Highest churn rate observed, indicating a critical area for focus.</a:t>
            </a:r>
            <a:endParaRPr lang="en-US" sz="1750" dirty="0"/>
          </a:p>
        </p:txBody>
      </p:sp>
      <p:sp>
        <p:nvSpPr>
          <p:cNvPr id="16" name="Shape 12"/>
          <p:cNvSpPr/>
          <p:nvPr/>
        </p:nvSpPr>
        <p:spPr>
          <a:xfrm>
            <a:off x="7626725" y="4979253"/>
            <a:ext cx="6244709" cy="1760577"/>
          </a:xfrm>
          <a:prstGeom prst="roundRect">
            <a:avLst>
              <a:gd name="adj" fmla="val 1933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7826335" y="5241607"/>
            <a:ext cx="33867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Spain: 20.27% churn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7863660" y="5709284"/>
            <a:ext cx="579108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Exhibits the lowest churn, suggesting effective retention factors.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1638"/>
            <a:ext cx="91279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Churn by Product &amp; Credit Score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97393"/>
            <a:ext cx="32746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Product-Specific Churn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900845" y="2606873"/>
            <a:ext cx="30480" cy="4645819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010972" y="2846784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60934" y="260687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746004" y="264937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93790" y="2684740"/>
            <a:ext cx="198822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Product 1: 69.17% churn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3790" y="3620214"/>
            <a:ext cx="198822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This product shows an alarmingly high churn, demanding immediate review and improvement.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4140756" y="4207669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60934" y="396775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746004" y="401026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5050155" y="4045625"/>
            <a:ext cx="198834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Products 3 &amp; 4: Very low churn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50155" y="5335429"/>
            <a:ext cx="198834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These products demonstrate strong customer stickiness, serving as benchmarks.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1997393"/>
            <a:ext cx="41759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Credit Score Impact on Churn</a:t>
            </a:r>
            <a:endParaRPr lang="en-US" sz="22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2606873"/>
            <a:ext cx="6244709" cy="34969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557" y="507206"/>
            <a:ext cx="7667030" cy="576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Key Insights &amp; Recommendations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5557" y="1452443"/>
            <a:ext cx="13339286" cy="1108472"/>
          </a:xfrm>
          <a:prstGeom prst="roundRect">
            <a:avLst>
              <a:gd name="adj" fmla="val 2496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68417" y="1475303"/>
            <a:ext cx="737830" cy="1062752"/>
          </a:xfrm>
          <a:prstGeom prst="roundRect">
            <a:avLst>
              <a:gd name="adj" fmla="val 32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99041" y="1833801"/>
            <a:ext cx="276582" cy="345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1590675" y="1659731"/>
            <a:ext cx="2860358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dirty="0">
                <a:solidFill>
                  <a:srgbClr val="746558"/>
                </a:solidFill>
                <a:latin typeface="Gelasio Semi Bold" pitchFamily="34" charset="0"/>
                <a:cs typeface="Gelasio Semi Bold" pitchFamily="34" charset="-120"/>
              </a:rPr>
              <a:t>Talk to inactive customers earlier</a:t>
            </a:r>
          </a:p>
        </p:txBody>
      </p:sp>
      <p:sp>
        <p:nvSpPr>
          <p:cNvPr id="7" name="Text 5"/>
          <p:cNvSpPr/>
          <p:nvPr/>
        </p:nvSpPr>
        <p:spPr>
          <a:xfrm>
            <a:off x="1590675" y="2058591"/>
            <a:ext cx="12371308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 campaigns to reactivate dormant accounts and boost customer engagement.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2697" y="2724983"/>
            <a:ext cx="13339286" cy="1108472"/>
          </a:xfrm>
          <a:prstGeom prst="roundRect">
            <a:avLst>
              <a:gd name="adj" fmla="val 2496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668417" y="2768203"/>
            <a:ext cx="737830" cy="1062752"/>
          </a:xfrm>
          <a:prstGeom prst="roundRect">
            <a:avLst>
              <a:gd name="adj" fmla="val 32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99041" y="3126700"/>
            <a:ext cx="276582" cy="345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1590675" y="2952631"/>
            <a:ext cx="3224689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dirty="0">
                <a:solidFill>
                  <a:srgbClr val="746558"/>
                </a:solidFill>
                <a:latin typeface="Gelasio Semi Bold" pitchFamily="34" charset="0"/>
                <a:cs typeface="Gelasio Semi Bold" pitchFamily="34" charset="-120"/>
              </a:rPr>
              <a:t>Improve Product 1 or offer alternatives</a:t>
            </a:r>
          </a:p>
        </p:txBody>
      </p:sp>
      <p:sp>
        <p:nvSpPr>
          <p:cNvPr id="12" name="Text 10"/>
          <p:cNvSpPr/>
          <p:nvPr/>
        </p:nvSpPr>
        <p:spPr>
          <a:xfrm>
            <a:off x="1590675" y="3351490"/>
            <a:ext cx="12371308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Conduct a thorough review of Product 1 to identify and address its pain points.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5557" y="4038243"/>
            <a:ext cx="13339286" cy="1108472"/>
          </a:xfrm>
          <a:prstGeom prst="roundRect">
            <a:avLst>
              <a:gd name="adj" fmla="val 2496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68417" y="4061103"/>
            <a:ext cx="737830" cy="1062752"/>
          </a:xfrm>
          <a:prstGeom prst="roundRect">
            <a:avLst>
              <a:gd name="adj" fmla="val 32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99041" y="4419600"/>
            <a:ext cx="276582" cy="345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1590675" y="4245531"/>
            <a:ext cx="3100507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dirty="0">
                <a:solidFill>
                  <a:srgbClr val="746558"/>
                </a:solidFill>
                <a:latin typeface="Gelasio Semi Bold" pitchFamily="34" charset="0"/>
                <a:cs typeface="Gelasio Semi Bold" pitchFamily="34" charset="-120"/>
              </a:rPr>
              <a:t>Encourage more customers to use credit cards</a:t>
            </a:r>
          </a:p>
        </p:txBody>
      </p:sp>
      <p:sp>
        <p:nvSpPr>
          <p:cNvPr id="17" name="Text 15"/>
          <p:cNvSpPr/>
          <p:nvPr/>
        </p:nvSpPr>
        <p:spPr>
          <a:xfrm>
            <a:off x="1590675" y="4644390"/>
            <a:ext cx="12371308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Incentivise credit card adoption to reduce churn among non-owners.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5557" y="5331143"/>
            <a:ext cx="13339286" cy="1108472"/>
          </a:xfrm>
          <a:prstGeom prst="roundRect">
            <a:avLst>
              <a:gd name="adj" fmla="val 2496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68417" y="5354002"/>
            <a:ext cx="737830" cy="1062752"/>
          </a:xfrm>
          <a:prstGeom prst="roundRect">
            <a:avLst>
              <a:gd name="adj" fmla="val 32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99041" y="5712500"/>
            <a:ext cx="276582" cy="345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4</a:t>
            </a:r>
            <a:endParaRPr lang="en-US" sz="2150" dirty="0"/>
          </a:p>
        </p:txBody>
      </p:sp>
      <p:sp>
        <p:nvSpPr>
          <p:cNvPr id="21" name="Text 19"/>
          <p:cNvSpPr/>
          <p:nvPr/>
        </p:nvSpPr>
        <p:spPr>
          <a:xfrm>
            <a:off x="1590675" y="5538430"/>
            <a:ext cx="4664035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Loyalty Rewards for Mid-Range Balances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90675" y="5937290"/>
            <a:ext cx="12371308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Implement programs to reward customers with balances between 100k-200k to foster loyalty.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5557" y="6624042"/>
            <a:ext cx="13339286" cy="1108472"/>
          </a:xfrm>
          <a:prstGeom prst="roundRect">
            <a:avLst>
              <a:gd name="adj" fmla="val 2496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68417" y="6646902"/>
            <a:ext cx="737830" cy="1062752"/>
          </a:xfrm>
          <a:prstGeom prst="roundRect">
            <a:avLst>
              <a:gd name="adj" fmla="val 32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99041" y="7005399"/>
            <a:ext cx="276582" cy="345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5</a:t>
            </a:r>
            <a:endParaRPr lang="en-US" sz="2150" dirty="0"/>
          </a:p>
        </p:txBody>
      </p:sp>
      <p:sp>
        <p:nvSpPr>
          <p:cNvPr id="26" name="Text 24"/>
          <p:cNvSpPr/>
          <p:nvPr/>
        </p:nvSpPr>
        <p:spPr>
          <a:xfrm>
            <a:off x="1590675" y="6831330"/>
            <a:ext cx="3321487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Target High-Churn Segments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90675" y="7230189"/>
            <a:ext cx="12371308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Focus retention efforts on customers in Spain and the 50-61 age group with tailored interventions.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4438"/>
            <a:ext cx="9409628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Conclusion 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793790" y="27596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1" y="3340774"/>
            <a:ext cx="6237090" cy="2185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Our project helped us understand why some customers are leaving </a:t>
            </a:r>
          </a:p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 looked at thing like : age, gender, where they live, which bank product they use.</a:t>
            </a:r>
          </a:p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main reasons why people leave : being inactive, not having a credit card, or being in a certain age group</a:t>
            </a:r>
          </a:p>
          <a:p>
            <a:pPr>
              <a:lnSpc>
                <a:spcPts val="2850"/>
              </a:lnSpc>
            </a:pPr>
            <a:endParaRPr lang="en-US" sz="1750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1" y="577226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“This helps the bank create better plans to keep customers happy and loyal.”</a:t>
            </a:r>
          </a:p>
        </p:txBody>
      </p:sp>
      <p:sp>
        <p:nvSpPr>
          <p:cNvPr id="6" name="Text 4"/>
          <p:cNvSpPr/>
          <p:nvPr/>
        </p:nvSpPr>
        <p:spPr>
          <a:xfrm>
            <a:off x="7599521" y="27596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340775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1900" y="4038116"/>
            <a:ext cx="62447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Thank You!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9659</TotalTime>
  <Words>498</Words>
  <Application>Microsoft Office PowerPoint</Application>
  <PresentationFormat>Custom</PresentationFormat>
  <Paragraphs>85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Gelasio Semi Bold</vt:lpstr>
      <vt:lpstr>Arial</vt:lpstr>
      <vt:lpstr>Gelasio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Diptee Shinde</cp:lastModifiedBy>
  <cp:revision>5</cp:revision>
  <dcterms:created xsi:type="dcterms:W3CDTF">2025-07-25T10:25:49Z</dcterms:created>
  <dcterms:modified xsi:type="dcterms:W3CDTF">2025-08-01T05:19:55Z</dcterms:modified>
</cp:coreProperties>
</file>